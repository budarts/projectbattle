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Схему собираем от решения, не от кода. Если жюри просит «покажите схему», открываем следующий слайд и ведём слева направо: входы, решение в 06:00, три горизонта, проверка в 07:00, обратная связь.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только то, без чего нельзя решить, выпускать ли состав. В центре три разных горизонта: год, две недели, ночь. Справа измеримые последствия. Нижняя полоса — почему это управление, а не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A1A"/>
                </a:solidFill>
                <a:latin typeface="Calibri"/>
              </a:rPr>
              <a:t>КОНКУРСНАЯ ЗАЩИТА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Эксплуатационная
готовность парка ВСМ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C4BC"/>
                </a:solidFill>
                <a:latin typeface="Calibri"/>
              </a:rPr>
              <a:t>Москва — Санкт-Петербург  ·  43 состава  ·  норма не ниже 89%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C4BC"/>
                </a:solidFill>
                <a:latin typeface="Calibri"/>
              </a:rPr>
              <a:t>Цифровой двойник исполняет план. Год полного парка, генератор 42.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1389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38 из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577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C4BC"/>
                </a:solidFill>
                <a:latin typeface="Calibri"/>
              </a:rPr>
              <a:t>норма утра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50292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51389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≤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5577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C4BC"/>
                </a:solidFill>
                <a:latin typeface="Calibri"/>
              </a:rPr>
              <a:t>на сервисе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292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51389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5577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C4BC"/>
                </a:solidFill>
                <a:latin typeface="Calibri"/>
              </a:rPr>
              <a:t>событий за год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50292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1" y="51389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 станок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1" y="5577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C4BC"/>
                </a:solidFill>
                <a:latin typeface="Calibri"/>
              </a:rPr>
              <a:t>только обточка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Состав нельзя чинить, когда освободится стойло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2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73152" cy="2148840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271016"/>
            <a:ext cx="52029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Что требует перевозка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618488"/>
            <a:ext cx="5184648" cy="1563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Утром в графике должно быть не меньше 38 составов из 43. Горячий резерв в эту норму входит. На сервисе одновременно не больше пяти. Станок один и делает только обточку.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73152" cy="2148840"/>
          </a:xfrm>
          <a:prstGeom prst="rect">
            <a:avLst/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271016"/>
            <a:ext cx="52486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Где ломается простой ремонт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5230368" cy="1563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Ждать жёсткого допуска — утренняя нитка уже не закрыта. Забирать слишком рано — меньше пар и пустой резерв. Свалить ревизии в один месяц — депо встаёт.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20440"/>
            <a:ext cx="27614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630168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1A1A"/>
                </a:solidFill>
                <a:latin typeface="Calibri"/>
              </a:rPr>
              <a:t>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050792"/>
            <a:ext cx="2505456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нижняя норма готовности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520440"/>
            <a:ext cx="27614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3630168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1A1A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4050792"/>
            <a:ext cx="2505456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потолок составов на сервисе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20440"/>
            <a:ext cx="27614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630168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1A1A"/>
                </a:solidFill>
                <a:latin typeface="Calibri"/>
              </a:rPr>
              <a:t>2 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050792"/>
            <a:ext cx="2505456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простой станка на один вагон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520440"/>
            <a:ext cx="27614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3630168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1A1A"/>
                </a:solidFill>
                <a:latin typeface="Calibri"/>
              </a:rPr>
              <a:t>1 493 км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4050792"/>
            <a:ext cx="2505456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запас, без которого резерв не горячий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D1D1B"/>
                </a:solidFill>
                <a:latin typeface="Calibri"/>
              </a:rPr>
              <a:t>Заказчик прямо сказал: готовность важнее равномерной загрузки. Равномерность не покупается просрочкой.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Держать утро в норме и не выдавать допущение за цитату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3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533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1A1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898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Calibri"/>
              </a:rPr>
              <a:t>Замкнуть контур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52120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План не лежит рядом с рейсом. Ночной диспетчер исполняет те же ограничения, что и годовой расчёт.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533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1A1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3898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Calibri"/>
              </a:rPr>
              <a:t>Соблюсти физику депо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965960"/>
            <a:ext cx="52120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8 стойл, 3 пути с домкратами, один станок, Москва — только внеплан и экипировка. Обточка не совмещается с другим ТО.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2043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685031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1A1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2160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Calibri"/>
              </a:rPr>
              <a:t>Показать цену ожидания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97679"/>
            <a:ext cx="52120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Тот же парк и тот же генератор без планирования. Разница — только в том, забирают состав заранее или у порога.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2043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685031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1A1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72160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Calibri"/>
              </a:rPr>
              <a:t>Отделить факт от допущения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297679"/>
            <a:ext cx="521208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Что сказано заказчиком — в модели как правило. Чего не сказали — подписано как допущение, а не как цитата.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КАК СОБРАТЬ СХЕМУ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Схема отвечает на вопрос заказчика, а не на устройство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4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280160"/>
            <a:ext cx="566928" cy="56692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188720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Одно 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3619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Не «построить систему». В 06:00 состав выходит на нитку или остаётся в Обухово. Всё остальное — вход или последствие этого решения.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50592"/>
            <a:ext cx="566928" cy="56692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42032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Только входы решения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06624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График, город стоянки, километры до жёсткого допуска, свободные стойло и станок. База, экран и имена файлов на схему не ставятся.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621024"/>
            <a:ext cx="566928" cy="56692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4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958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Горизонты не смешивать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7705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Ревизию IS700 нельзя планировать той же ночью, что обточку одного вагона. Поэтому три блока, а не одна стрелка «техническое обслуживание».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791456"/>
            <a:ext cx="566928" cy="56692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828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00016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Последствие и стрелка назад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4748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Справа — нитка, готовность, дневной станок. Снизу — обратная связь. Без неё схема описывает отчёт, а не управление.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2531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6E00"/>
                </a:solidFill>
                <a:latin typeface="Calibri"/>
              </a:rPr>
              <a:t>Не ставить на эту схему 70 ниток, доли узлов и экран программы. Нитки — отдельный слайд, узлы — гипотеза.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схема_реш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ГРАНИЦА ФАКТОВ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Что сказано заказчиком — и что цитатой быть не может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6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73152" cy="4937760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71016"/>
            <a:ext cx="53400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Взято из ответов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18488"/>
            <a:ext cx="5321808" cy="43525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Пара в тексте про резерв — 1 358 км, не сцепка.
Запись «1+2» в таблице — два состава на нитке. Обязательность сцепки не подтверждена.
Плановое ТО и обточка — только Обухово. В Москве — экипировка и внеплан, включая замену пары.
IS100 и IS200 сдвигаются только внутри допуска. Клапан раз в 365 суток пропускать нельзя.
Готовность начинается, когда состав теряет пассажирскую доступность.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73152" cy="4937760"/>
          </a:xfrm>
          <a:prstGeom prst="rect">
            <a:avLst/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271016"/>
            <a:ext cx="52486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Подписано как допущение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618488"/>
            <a:ext cx="5230368" cy="43525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Ночь 00:00–06:00 для коротких работ. Часы депо в чате не названы.
Доли узлов отказа. Статистику не передали. Это гипотеза, не факт.
Рост резерва вместе с парком. Вопрос остался открытым: 2+2 не всегда набирается, это показано, а не спрятано.
Длительности циклов оставлены из постановки. Таблицу ПГУПС молча не подставляли.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КАК ИСПОЛНЯЕТСЯ СХЕМА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Три горизонта, один ночной диспетчер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7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A1A"/>
                </a:solidFill>
                <a:latin typeface="Calibri"/>
              </a:rPr>
              <a:t>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B"/>
                </a:solidFill>
                <a:latin typeface="Calibri"/>
              </a:rPr>
              <a:t>Крупные ревизии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IS510–IS700 раскладываются по месяцам так, чтобы не превысить физический потолок позиций. Равномерность — цель, не повод выйти за допуск.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8872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53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A1A"/>
                </a:solidFill>
                <a:latin typeface="Calibri"/>
              </a:rPr>
              <a:t>14 суток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B"/>
                </a:solidFill>
                <a:latin typeface="Calibri"/>
              </a:rPr>
              <a:t>Короткая очередь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6032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IS100, IS200 и обточка. Если решатель не успел за секунду, ночь всё равно собирается по тем же правилам: пять составов, один станок.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353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A1A"/>
                </a:solidFill>
                <a:latin typeface="Calibri"/>
              </a:rPr>
              <a:t>Сутки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B"/>
                </a:solidFill>
                <a:latin typeface="Calibri"/>
              </a:rPr>
              <a:t>Рейс и отказ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56032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370"/>
                </a:solidFill>
                <a:latin typeface="Calibri"/>
              </a:rPr>
              <a:t>Состав у жёсткого допуска в пару не выпускаем. Отказ в Москве чинится там, если это внеплан и есть место. Иначе — ход резервом в Обухово.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3492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D1D1B"/>
                </a:solidFill>
                <a:latin typeface="Calibri"/>
              </a:rPr>
              <a:t>Между пересчётами диспетчер не ждёт бумажку: забирает тех, кто ближе к допуску.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ОБОРОТ И СТАНОК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Две вещи, которые легко перепутать на защите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8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73152" cy="4892040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71016"/>
            <a:ext cx="53400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Суточный оборот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18488"/>
            <a:ext cx="5321808" cy="4306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19 оборотов, 70 ниток, ход 2 ч 10 мин или 2 ч 20 мин.
38 составов на нитках и 5 в сервисном цикле — это уже весь парк. Пустого резерва 2+2 в этой раскладке нет.
Минимальная стоянка между нитками — 55 минут.
Годовые 185 событий посчитаны парой 1 358 км. Нитки примера как единственный диспетчер оставляют состав в Москве у допуска, поэтому год ими не подменён.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57784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73152" cy="4892040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271016"/>
            <a:ext cx="52486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Calibri"/>
              </a:rPr>
              <a:t>Станок — только обточка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618488"/>
            <a:ext cx="5230368" cy="4306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Электропоезд из 8 вагонов. Обтачиваются все вагоны: 32 колёсные пары, 16 моторных и 16 немоторных.
2 часа простоя на вагон, не на каждую пару. Весь состав — 16 часов. За ночь влезают 3 вагона.
Замена пары — другая работа, станок её не делает, в Москве она возможна.
Первая волна: 96 часов спроса против 120 часов ночного окна. Запас 24 часа. Второй станок этой арифметикой не требуется.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ГОД, ГЕНЕРАТОР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Один парк. Разница — забирают состав заранее или у порога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9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200400"/>
                <a:gridCol w="3200400"/>
              </a:tblGrid>
              <a:tr h="523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 планом</a:t>
                      </a:r>
                    </a:p>
                  </a:txBody>
                  <a:tcPr anchor="ctr"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Без плана</a:t>
                      </a:r>
                    </a:p>
                  </a:txBody>
                  <a:tcPr anchor="ctr">
                    <a:solidFill>
                      <a:srgbClr val="1D1D1B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Готовность в часы графика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98,3%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94,8%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Утреннее покрытие нормы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99,7%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Внеплановые события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Отказы в пути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не выделяли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Дневная обточка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51 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1 942 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Загрузка депо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На сервисе одновременно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не больше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не больше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1D1B"/>
                          </a:solidFill>
                          <a:latin typeface="Calibri"/>
                        </a:rPr>
                        <a:t>Пробег парка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1A1A"/>
                          </a:solidFill>
                          <a:latin typeface="Calibri"/>
                        </a:rPr>
                        <a:t>20,4 млн км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B"/>
                          </a:solidFill>
                          <a:latin typeface="Calibri"/>
                        </a:rPr>
                        <a:t>30,9 млн км</a:t>
                      </a:r>
                    </a:p>
                  </a:txBody>
                  <a:tcPr anchor="ctr">
                    <a:solidFill>
                      <a:srgbClr val="FBF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План платит пробегом: состав снимают раньше порога. Это цена, а не спрятанный график.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1A1A"/>
                </a:solidFill>
                <a:latin typeface="Calibri"/>
              </a:rPr>
              <a:t>ЧЕСТНАЯ ГРАНИЦА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38912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Calibri"/>
              </a:rPr>
              <a:t>Что защита не должна обещать сверх прогона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10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370"/>
                </a:solidFill>
                <a:latin typeface="Calibri"/>
              </a:rPr>
              <a:t>ВСМ Москва — Санкт-Петербург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185, не 500 и не ноль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Интенсивности 2,3 и 6,1 на миллион километров подобраны под замечание наставника. Потолок 3,5 из литературы — предел, не ожидание.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22576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474 тыс. км на состав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Это меньше ориентира полного оборота. Тяжёлые циклы снимают состав с пар. Реактивный режим ближе к 719 тыс. км.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29584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IS600 и IS700 не в первом годе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867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До 1,2 млн км ревизия не доезжает. На горизонте до 10 лет они уже входят в прогон. Карточки года — 365 суток.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736592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B"/>
                </a:solidFill>
                <a:latin typeface="Calibri"/>
              </a:rPr>
              <a:t>Резерв 2+2 не всегда есть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370"/>
                </a:solidFill>
                <a:latin typeface="Calibri"/>
              </a:rPr>
              <a:t>104 город-утра не хватило запаса 1 493 км. Это ответ на открытый вопрос, а не повод тихо увеличить резерв.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A1A"/>
                </a:solidFill>
                <a:latin typeface="Calibri"/>
              </a:rP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229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Готовность держится,
потому что план исполняется ночью.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633472"/>
            <a:ext cx="201168" cy="20116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98,3% в часы графика, все 365 утр не ниже нормы, на сервисе не больше пяти.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410712"/>
            <a:ext cx="201168" cy="20116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Без плана тот же парк отдаёт дню 1 942 часа станка вместо 51.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187952"/>
            <a:ext cx="201168" cy="20116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Схема защиты — контур утреннего решения, а не рисунок программы.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965192"/>
            <a:ext cx="201168" cy="201168"/>
          </a:xfrm>
          <a:prstGeom prst="ellipse">
            <a:avLst/>
          </a:prstGeom>
          <a:solidFill>
            <a:srgbClr val="E2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Что заказчик не сказал, в отчёт как цитата не попало.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C4BC"/>
                </a:solidFill>
                <a:latin typeface="Calibr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Эксплуатационная готовность парка ВСМ</dc:title>
  <dc:subject>Схема решения и результаты цифрового двойника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